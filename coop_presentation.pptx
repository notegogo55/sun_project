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152B"/>
                </a:solidFill>
                <a:latin typeface="Leelawadee UI"/>
              </a:defRPr>
            </a:pPr>
            <a:r>
              <a:rPr sz="1300" b="0" i="0" u="none" strike="noStrike">
                <a:solidFill>
                  <a:srgbClr val="10152B"/>
                </a:solidFill>
                <a:latin typeface="Leelawadee UI"/>
              </a:rPr>
              <a:t>เปรียบเทียบ TSS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TSS</c:v>
                </c:pt>
              </c:strCache>
            </c:strRef>
          </c:tx>
          <c:spPr>
            <a:solidFill>
              <a:srgbClr val="9DC3E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152B"/>
                    </a:solidFill>
                    <a:latin typeface="Leelawade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C3E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9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LSTM (val)</c:v>
                  </c:pt>
                  <c:pt idx="1">
                    <c:v>LSTM (test)</c:v>
                  </c:pt>
                  <c:pt idx="2">
                    <c:v>Baseline logistic (test)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0.845</c:v>
                </c:pt>
                <c:pt idx="1">
                  <c:v>0.472</c:v>
                </c:pt>
                <c:pt idx="2">
                  <c:v>0.908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0152B"/>
                  </a:solidFill>
                  <a:latin typeface="Leelawade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157"/>
                </a:solidFill>
                <a:latin typeface="Leelawade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E93"/>
                </a:solidFill>
                <a:latin typeface="Leelawade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แนะนำตัวสั้น ๆ 15 วินาที แล้วบอกทันทีว่า หัวข้อนี้เป็นชื่อของโครงการวิจัยเต็มที่ NARIT ตั้งไว้ ส่วนที่ผมรับผิดชอบในช่วงสหกิจมีขอบเขตเฉพาะเจาะจงกว่านั้น เดี๋ยวจะอธิบายในสไลด์ขอบเขต — พูดประโยคนี้ตั้งแต่ต้นเพื่อกันคำถามเรื่อง multi-wavelength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ผ่านเร็ว ๆ ประมาณ 10 วินาที ไม่ต้องอ่านทุกข้อ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นี่คือหัวใจของทั้งโครงงาน ถ้าดวงอาทิตย์หมุนเท่ากันทั้งดวง สนามแม่เหล็กจะไม่บิดและจะไม่มีการปะทุเลย ประเด็นการหมุนไม่เท่ากันยังกลับมาอีกครั้งตอนพูดเรื่อง tracking เพราะทำให้ต้องชดเชยตำแหน่งเวลาติดตาม AR ข้ามเวลา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เน้นคำว่า confined flare ไว้ให้ดี เป็นเหตุผลทางวิทยาศาสตร์ที่ทำให้โครงการวิจัยเต็มอยากได้ multi-wavelength เพราะดูช่วงคลื่นเดียวแยกไม่ออกว่า flare นั้นมี CME ตามมาหรือไม่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พายุ Gannon ถูกใช้เป็นชุดข้อมูล case study ในโครงงานด้วย จะกลับมาพูดถึงอีกครั้งตอนสรุปความคืบหน้า ยิ่งเตือนล่วงหน้าได้นาน ยิ่งลดความเสียหายได้มาก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ถ้ากรรมการถามว่าทำไมไม่ใช้ระบบที่มีอยู่แล้ว ตอบว่าระบบที่มีอยู่เช่น NOAA SWPC ให้ผลระดับทั้งดวง ไม่ได้บอกว่า AR ดวงไหนเสี่ยง ซึ่งเป็นสิ่งที่ผู้ปฏิบัติงานจริงต้องการ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 5 การประเมินผลอย่างเข้มงวด คือข้อที่ทำให้โครงงานนี้ต่างจากโปรเจกต์ทั่วไป จะขยายความในสไลด์ผลลัพธ์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สไลด์นี้สำคัญที่สุดในเชิงป้องกันคำถาม พูดตรง ๆ ว่าชื่อโครงการคือเป้าหมายระยะยาว สิ่งที่ผมทำเสร็จในช่วงสหกิจคือฐานรากชั้นโฟโตสเฟียร์ ซึ่งเป็นชั้นที่ต้องทำก่อนเพราะทุกชั้นบนถูกอ้างอิงจาก mask ที่สร้างจากชั้นนี้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ถ้าถูกถามว่าทำไมไม่ใช้ภาพความละเอียดเต็ม ตอบด้วยตัวเลข VRAM 4 GB ตรง ๆ นี่เป็นข้อจำกัดจริงที่บันทึกไว้ใน config ของโปรเจกต์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ถ้ามีเวลาน้อยข้าม Hungarian Algorithm ได้ แต่อย่าข้ามข้อตัวชี้วัด เพราะสไลด์ผลลัพธ์ต้องใช้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จุดนี้เป็นการตัดสินใจเชิงวิศวกรรมที่ควรเน้น ลดความเสี่ยงก่อนลงทุนเวลา เป็นสิ่งที่พี่เลี้ยงในสถานประกอบการให้ความสำคัญ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ถ้ากรรมการถามว่ารู้ได้อย่างไรว่าผลไม่ได้มาจากข้อมูลรั่ว ชี้ที่กฎ HARP-disjoint บวก gap 14 วัน นี่คือคำตอบ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ต้องพูดข้อจำกัดนี้เอง อย่ารอให้ถูกถาม บอกว่าค่า Dice 0.93 นี้เป็นค่าบน validation ยังไม่ใช่ test ครับ การวัดบน test คือหนึ่งในงานที่เหลืออยู่ นี่คือความซื่อตรงทางวิชาการที่กรรมการให้คะแนน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n_confirm เท่ากับ 2 กับ max_age เท่ากับ 3 คือกลไกกัน noise AR ปลอมที่โผล่มาเฟรมเดียวจะไม่ถูกนับเป็น track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ประเด็น effective sample size คือสิ่งที่ผมภูมิใจที่สุดในโครงงานนี้ เป็นการมองทะลุว่าข้อมูลเยอะกับข้อมูลที่ให้สารสนเทศเยอะไม่ใช่สิ่งเดียวกัน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แผงฟลักซ์โปรตอนดึงข้อมูลจากคลังที่ผมทำความสะอาดไว้เอง จะเล่าในสไลด์งานอื่น ๆ เป็นตัวอย่างว่างานสองชิ้นเชื่อมกัน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สไลด์นี้ต้องพูดด้วยความมั่นใจ ไม่ใช่ขอโทษ ผลเชิงลบที่วิเคราะห์สาเหตุได้และหยุดถูกจังหวะ มีค่าทางวิชาการมากกว่าตัวเลขสวยที่มาจากการ overfit ถ้ากรรมการถามว่าแล้วจะแก้อย่างไร ตอบ 3 ข้อ หนึ่ง ขยายช่วงข้อมูลให้ครอบคลุมหลายวัฏจักร สอง เพิ่มขั้น isotonic หรือ Platt calibration สาม ประเมินแบบหลาย seed รายงาน mean บวกลบ SD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เตรียมรับคำถามว่าทำไมยังไม่ 100% ตอบว่าข้อ 1 และ 2 ติดที่เวลาเทรน GPU 22 ชั่วโมงได้ 31 epoch ไม่ใช่ติดที่ความเข้าใจหรือโค้ด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เน้นว่างานทำความสะอาดข้อมูลไม่ใช่งานธุรการ การตรวจพบว่าช่อง E มากกว่า 4.0 MeV ว่าง 100% ตลอด 28 ปี เป็นข้อมูลที่ป้องกันไม่ให้คนอื่นเสียเวลาไปกับช่องที่ไม่มีข้อมูล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ปิดที่ข้อเรียนรู้ข้อ 2 ให้หนักแน่น เพราะเป็นสิ่งที่แยกนักศึกษาที่ทำโปรเจกต์ให้เสร็จ ออกจากนักศึกษาที่เข้าใจว่าตัวเองทำอะไรอยู่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777240"/>
            <a:ext cx="4114800" cy="4114800"/>
          </a:xfrm>
          <a:prstGeom prst="ellipse">
            <a:avLst/>
          </a:prstGeom>
          <a:solidFill>
            <a:srgbClr val="1C2444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1325880"/>
            <a:ext cx="3017520" cy="3017520"/>
          </a:xfrm>
          <a:prstGeom prst="ellipse">
            <a:avLst/>
          </a:prstGeom>
          <a:solidFill>
            <a:srgbClr val="D64933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1783080"/>
            <a:ext cx="2103120" cy="2103120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โครงงานสหกิจศึกษา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44752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การติดตามบริเวณกัมมันต์บนดวงอาทิตย์แบบอัตโนมัติ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และการพยากรณ์การปะทุ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โดยใช้การสังเกตการณ์หลายช่วงคลื่น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19856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9DC3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Automated Solar Active Region Tracking and Eruption Forecasting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9DC3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Using Multi-Wavelength Observations: A Deep Learning Approach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315968"/>
          <a:ext cx="83210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6172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67E93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ผู้จัดทำ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นายธนภัทร ศรีนาเรียง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5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67E93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สถานประกอบการ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สถาบันวิจัยดาราศาสตร์แห่งชาติ (องค์การมหาชน) — NARIT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5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67E93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กลุ่มงาน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ILRS Research Group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5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67E93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พี่เลี้ยง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นายประดิพัทธ์ เมืองหา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5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67E93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ที่ปรึกษาร่วม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นายรัชชานนท์ พลามนัส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5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หัวข้อการนำเสนอ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00200"/>
            <a:ext cx="457200" cy="457200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819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ความรู้เบื้องต้นเกี่ยวกับดวงอาทิตย์และสภาพอวกาศ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441448"/>
            <a:ext cx="457200" cy="457200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423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หลักการและเหตุผล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3282696"/>
            <a:ext cx="457200" cy="457200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644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4123944"/>
            <a:ext cx="457200" cy="457200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1056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ขอบเขตงาน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4965192"/>
            <a:ext cx="457200" cy="457200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9469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เครื่องมือและทฤษฎีที่ใช้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27648" y="1600200"/>
            <a:ext cx="457200" cy="457200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2764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15819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ขั้นตอนการทำงาน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327648" y="2441448"/>
            <a:ext cx="457200" cy="457200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27648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423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รายละเอียดของงาน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327648" y="3282696"/>
            <a:ext cx="457200" cy="457200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27648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2644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ผลการดำเนินงานและการวิเคราะห์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327648" y="4123944"/>
            <a:ext cx="457200" cy="457200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27648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41056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สรุปผลการปฏิบัติงาน (% ความคืบหน้า)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327648" y="4965192"/>
            <a:ext cx="457200" cy="457200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27648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9469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งานอื่น ๆ ที่ได้รับมอบหมาย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ดวงอาทิตย์: โครงสร้างและการหมุนที่ไม่เท่ากัน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ความรู้เบื้องต้น 1 /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ดวงอาทิตย์คือดาวฤกษ์ที่เป็นพลาสมา ไม่ใช่ของแข็ง — จึงหมุนไม่พร้อมกันทั้งดวง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6903720" cy="822960"/>
          </a:xfrm>
          <a:prstGeom prst="roundRect">
            <a:avLst>
              <a:gd name="adj" fmla="val 5556"/>
            </a:avLst>
          </a:prstGeom>
          <a:solidFill>
            <a:srgbClr val="3A2A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20665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โคโรนา  (Corona)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3957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4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ห่วงสนามแม่เหล็ก · จุดกำเนิดการปะทุ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58968" y="197510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1–10 ล้าน 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907792"/>
            <a:ext cx="6903720" cy="822960"/>
          </a:xfrm>
          <a:prstGeom prst="roundRect">
            <a:avLst>
              <a:gd name="adj" fmla="val 5556"/>
            </a:avLst>
          </a:prstGeom>
          <a:solidFill>
            <a:srgbClr val="8A3B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29992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โครโมสเฟียร์  (Chromosphere)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3284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4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พลาสมาเส้นใย (filament)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58968" y="29077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10,000–50,000 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840480"/>
            <a:ext cx="6903720" cy="822960"/>
          </a:xfrm>
          <a:prstGeom prst="roundRect">
            <a:avLst>
              <a:gd name="adj" fmla="val 5556"/>
            </a:avLst>
          </a:prstGeom>
          <a:solidFill>
            <a:srgbClr val="B8761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" y="39319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โฟโตสเฟียร์  (Photosphere)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426110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4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ผิวที่มองเห็น · จุดมืด ~4,000 K · สนามแม่เหล็ก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58968" y="3840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~6,000 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791456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▲ อุณหภูมิสูงขึ้นเมื่อออกห่างจากผิว — ปริศนาที่ยังไม่มีคำอธิบายสมบูรณ์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18120" y="1975104"/>
            <a:ext cx="3803904" cy="2798064"/>
          </a:xfrm>
          <a:prstGeom prst="roundRect">
            <a:avLst>
              <a:gd name="adj" fmla="val 1961"/>
            </a:avLst>
          </a:prstGeom>
          <a:solidFill>
            <a:srgbClr val="F1F3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0" y="21396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Differential Rotation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57860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~25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25526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วัน / รอบ  ที่เส้นศูนย์สูตร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802368" y="257860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DC3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~35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9802368" y="325526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วัน / รอบ  ที่ขั้ว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91363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เส้นแรงแม่เหล็กภายในถูกบิดพันกัน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สะสมพลังงานมหาศาลไว้ใต้ผิว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26694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หัวใจของทั้งโครงงาน — ถ้าดวงอาทิตย์หมุนเท่ากันทั้งดวง สนามแม่เหล็กจะไม่บิด และจะไม่มีการปะทุเลย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จากจุดมืด → บริเวณกัมมันต์ → การปะทุ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ความรู้เบื้องต้น 2 /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048256" cy="109728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6656" y="1682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สนามแม่เหล็กบิดพัน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1396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ใต้ผิวดวงอาทิตย์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615184" y="1572768"/>
            <a:ext cx="210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25496" y="1572768"/>
            <a:ext cx="2048256" cy="109728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35224" y="1682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จุดมืด (Sunspot)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21396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เย็นกว่ารอบข้าง ~2,000 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73752" y="1572768"/>
            <a:ext cx="210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84064" y="1572768"/>
            <a:ext cx="2048256" cy="109728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93792" y="1682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บริเวณกัมมันต์ (AR)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93792" y="21396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กลุ่มจุดมืดที่สนามเข้ม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572768"/>
            <a:ext cx="210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42632" y="1572768"/>
            <a:ext cx="2048256" cy="109728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1682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Magnetic Reconnection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21396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สนามเสียเสถียรภาพ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390888" y="1572768"/>
            <a:ext cx="210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0" y="1572768"/>
            <a:ext cx="2048256" cy="1097280"/>
          </a:xfrm>
          <a:prstGeom prst="roundRect">
            <a:avLst>
              <a:gd name="adj" fmla="val 5000"/>
            </a:avLst>
          </a:prstGeom>
          <a:solidFill>
            <a:srgbClr val="FBE7C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10928" y="1682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Flare และ/หรือ CME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710928" y="21396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ปลดปล่อยพลังงาน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2926080"/>
            <a:ext cx="5440680" cy="1298448"/>
          </a:xfrm>
          <a:prstGeom prst="roundRect">
            <a:avLst>
              <a:gd name="adj" fmla="val 4225"/>
            </a:avLst>
          </a:prstGeom>
          <a:solidFill>
            <a:srgbClr val="F1F3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8096" y="3035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Solar Flare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" y="334670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การปลดปล่อยพลังงานเป็นรังสี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เดินทางถึงโลกใน 8 นาที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447288" y="3035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8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CME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47288" y="334670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มวลพลาสมาถูกเหวี่ยงออก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เดินทางถึงโลกใน 1–3 วัน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2926080"/>
            <a:ext cx="5266944" cy="1298448"/>
          </a:xfrm>
          <a:prstGeom prst="roundRect">
            <a:avLst>
              <a:gd name="adj" fmla="val 4225"/>
            </a:avLst>
          </a:prstGeom>
          <a:solidFill>
            <a:srgbClr val="FDECE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56248" y="30358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⚠  ไม่ใช่ทุก flare จะมี CME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56248" y="334670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confined flare สว่างจ้าแต่ไม่มีมวลสารพุ่งออก — เป็นเหตุผลทางวิทยาศาสตร์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ที่โครงการวิจัยเต็มต้องการข้อมูลหลายช่วงคลื่น เพราะดูช่วงคลื่นเดียวแยกไม่ออก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444398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ระดับความรุนแรง (GOES class) — วัดจากฟลักซ์รังสีเอกซ์ 1–8 Å แต่ละระดับต่างกัน 10 เท่า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4828032"/>
            <a:ext cx="2048256" cy="566928"/>
          </a:xfrm>
          <a:prstGeom prst="roundRect">
            <a:avLst>
              <a:gd name="adj" fmla="val 8065"/>
            </a:avLst>
          </a:prstGeom>
          <a:solidFill>
            <a:srgbClr val="C8CED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66928" y="482803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2825496" y="4828032"/>
            <a:ext cx="2048256" cy="566928"/>
          </a:xfrm>
          <a:prstGeom prst="roundRect">
            <a:avLst>
              <a:gd name="adj" fmla="val 8065"/>
            </a:avLst>
          </a:prstGeom>
          <a:solidFill>
            <a:srgbClr val="9DC3E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825496" y="482803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084064" y="4828032"/>
            <a:ext cx="2048256" cy="566928"/>
          </a:xfrm>
          <a:prstGeom prst="roundRect">
            <a:avLst>
              <a:gd name="adj" fmla="val 8065"/>
            </a:avLst>
          </a:prstGeom>
          <a:solidFill>
            <a:srgbClr val="F6D06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084064" y="482803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342632" y="4828032"/>
            <a:ext cx="2048256" cy="566928"/>
          </a:xfrm>
          <a:prstGeom prst="roundRect">
            <a:avLst>
              <a:gd name="adj" fmla="val 8065"/>
            </a:avLst>
          </a:prstGeom>
          <a:solidFill>
            <a:srgbClr val="F0A20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42632" y="482803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9601200" y="4828032"/>
            <a:ext cx="2048256" cy="566928"/>
          </a:xfrm>
          <a:prstGeom prst="roundRect">
            <a:avLst>
              <a:gd name="adj" fmla="val 8065"/>
            </a:avLst>
          </a:prstGeom>
          <a:solidFill>
            <a:srgbClr val="D6493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01200" y="482803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X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548640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เกณฑ์ที่โครงงานนี้ใช้:  ≥ M1.0  (10⁻⁵ W/m²)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ทำไมต้องพยากรณ์: สภาพอวกาศกระทบอะไร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ความรู้เบื้องต้น 3 /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02152" cy="1133856"/>
          </a:xfrm>
          <a:prstGeom prst="roundRect">
            <a:avLst>
              <a:gd name="adj" fmla="val 4839"/>
            </a:avLst>
          </a:prstGeom>
          <a:solidFill>
            <a:srgbClr val="F1F3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55648"/>
            <a:ext cx="530352" cy="53035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556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⚡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719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ระบบไฟฟ้ากำลัง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0116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กระแสเหนี่ยวนำทำหม้อแปลงเสียหาย ไฟดับเป็นวงกว้าง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6824" y="1572768"/>
            <a:ext cx="3502152" cy="1133856"/>
          </a:xfrm>
          <a:prstGeom prst="roundRect">
            <a:avLst>
              <a:gd name="adj" fmla="val 4839"/>
            </a:avLst>
          </a:prstGeom>
          <a:solidFill>
            <a:srgbClr val="F1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71416" y="1755648"/>
            <a:ext cx="530352" cy="53035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71416" y="17556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9784" y="1719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GPS / GNSS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29784" y="20116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ค่าพิกัดคลาดเคลื่อน กระทบการบินและเกษตรแม่นยำ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72768"/>
            <a:ext cx="3502152" cy="1133856"/>
          </a:xfrm>
          <a:prstGeom prst="roundRect">
            <a:avLst>
              <a:gd name="adj" fmla="val 4839"/>
            </a:avLst>
          </a:prstGeom>
          <a:solidFill>
            <a:srgbClr val="F1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11312" y="1755648"/>
            <a:ext cx="530352" cy="53035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11312" y="17556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📡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719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วิทยุ HF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20116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สื่อสารขาดหาย โดยเฉพาะเส้นทางบินขั้วโลก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2871216"/>
            <a:ext cx="3502152" cy="1133856"/>
          </a:xfrm>
          <a:prstGeom prst="roundRect">
            <a:avLst>
              <a:gd name="adj" fmla="val 4839"/>
            </a:avLst>
          </a:prstGeom>
          <a:solidFill>
            <a:srgbClr val="F1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054096"/>
            <a:ext cx="530352" cy="53035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054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🛸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89888" y="3017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ดาวเทียม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89888" y="3310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วงจรเสียหาย วงโคจรตกจากบรรยากาศที่ขยายตัว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06824" y="2871216"/>
            <a:ext cx="3502152" cy="1133856"/>
          </a:xfrm>
          <a:prstGeom prst="roundRect">
            <a:avLst>
              <a:gd name="adj" fmla="val 4839"/>
            </a:avLst>
          </a:prstGeom>
          <a:solidFill>
            <a:srgbClr val="F1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471416" y="3054096"/>
            <a:ext cx="530352" cy="53035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71416" y="3054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👨‍🚀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29784" y="3017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นักบินอวกาศ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129784" y="3310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ได้รับรังสีเกินเกณฑ์ปลอดภัย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2871216"/>
            <a:ext cx="3502152" cy="1133856"/>
          </a:xfrm>
          <a:prstGeom prst="roundRect">
            <a:avLst>
              <a:gd name="adj" fmla="val 4839"/>
            </a:avLst>
          </a:prstGeom>
          <a:solidFill>
            <a:srgbClr val="F1F3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211312" y="3054096"/>
            <a:ext cx="530352" cy="53035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11312" y="3054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🌍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3017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แสงออโรรา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3310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ปรากฏถึงละติจูดต่ำผิดปกติในพายุรุนแรง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279392"/>
            <a:ext cx="11055096" cy="1298448"/>
          </a:xfrm>
          <a:prstGeom prst="roundRect">
            <a:avLst>
              <a:gd name="adj" fmla="val 4225"/>
            </a:avLst>
          </a:prstGeom>
          <a:solidFill>
            <a:srgbClr val="FDECE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4672" y="44074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กรณีจริงล่าสุด — พายุ Gannon (พฤษภาคม 2024)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" y="473659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AR 13664 ปล่อยเปลว X8.7 เมื่อ 14 พ.ค. 2024 (แรงที่สุดของ Solar Cycle 25)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ก่อพายุแม่เหล็กโลกระดับ G5 ครั้งแรกนับตั้งแต่ปี 2003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503920" y="448056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24 ชม.</a:t>
            </a:r>
            <a:endParaRPr lang="en-US" sz="300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515721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เป้าหมายการเตือนล่วงหน้าของโครงงานนี้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หลักการและเหตุผล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591056"/>
            <a:ext cx="3502152" cy="1847088"/>
          </a:xfrm>
          <a:prstGeom prst="roundRect">
            <a:avLst>
              <a:gd name="adj" fmla="val 2970"/>
            </a:avLst>
          </a:prstGeom>
          <a:solidFill>
            <a:srgbClr val="F1F3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86384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" y="2212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พึ่งพาผู้เชี่ยวชาญ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4203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การพยากรณ์ปัจจุบันยังพึ่งการตีความด้วยคน ทำต่อเนื่อง 24 ชั่วโมงไม่ได้ และไม่สม่ำเสมอระหว่างบุคคล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06824" y="1591056"/>
            <a:ext cx="3502152" cy="1847088"/>
          </a:xfrm>
          <a:prstGeom prst="roundRect">
            <a:avLst>
              <a:gd name="adj" fmla="val 2970"/>
            </a:avLst>
          </a:prstGeom>
          <a:solidFill>
            <a:srgbClr val="F1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212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ข้อมูลล้นมือ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4203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SDO ส่งข้อมูลระดับเทระไบต์ต่อวัน เกินกว่าที่มนุษย์จะวิเคราะห์ได้ทัน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591056"/>
            <a:ext cx="3502152" cy="1847088"/>
          </a:xfrm>
          <a:prstGeom prst="roundRect">
            <a:avLst>
              <a:gd name="adj" fmla="val 2970"/>
            </a:avLst>
          </a:prstGeom>
          <a:solidFill>
            <a:srgbClr val="F1F3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66176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212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ระบบแยกส่วนกัน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254203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การตรวจจับ AR การติดตามข้ามเวลา และการพยากรณ์ ต่างคนต่างทำ ไม่ได้ต่อกันเป็นสายงานเดียว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657600"/>
            <a:ext cx="11055096" cy="1078992"/>
          </a:xfrm>
          <a:prstGeom prst="roundRect">
            <a:avLst>
              <a:gd name="adj" fmla="val 5085"/>
            </a:avLst>
          </a:prstGeom>
          <a:solidFill>
            <a:srgbClr val="FBE7C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767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ช่องว่างงานวิจัย (Research Gap)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078224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ยังขาดระบบอัตโนมัติที่เชื่อมตั้งแต่การตรวจจับขอบเขต AR จากภาพสนามแม่เหล็ก → การติดตามข้ามเวลา → การพยากรณ์การปะทุ ให้เป็น pipeline เดียวที่ทำซ้ำได้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956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แนวทางแก้:  ใช้ Deep Learning สร้างสายงานอัตโนมัติแบบ end-to-end ที่รับภาพเต็มดวงเข้าไป แล้วให้ผลเป็นความเสี่ยงการเกิดเปลวรายบริเวณกัมมันต์ พร้อมหน้าเว็บสำหรับดูผล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554480"/>
            <a:ext cx="11055096" cy="969264"/>
          </a:xfrm>
          <a:prstGeom prst="roundRect">
            <a:avLst>
              <a:gd name="adj" fmla="val 5660"/>
            </a:avLst>
          </a:prstGeom>
          <a:solidFill>
            <a:srgbClr val="FBE7C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04672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วัตถุประสงค์หลัก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920240"/>
            <a:ext cx="10561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 pipeline การเรียนรู้เชิงลึกแบบโมดูลาร์ ที่ตรวจจับและติดตามบริเวณกัมมันต์บนดวงอาทิตย์ แล้วพยากรณ์ความน่าจะเป็นของการเกิดเปลวสุริยะระดับ ≥ M1.0 ภายใน 24 ชั่วโมง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88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วัตถุประสงค์ย่อย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108960"/>
            <a:ext cx="420624" cy="420624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30540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สร้างระบบดึงและเตรียมข้อมูลอัตโนมัติ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33649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 JSOC (SDO/HMI) และ HEK / NOAA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0488" y="3108960"/>
            <a:ext cx="420624" cy="420624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9048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57416" y="30540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พัฒนาโมเดล U-Net แบ่งส่วน AR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57416" y="33649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ระดับพิกเซลจาก magnetogram เต็มดวง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041648"/>
            <a:ext cx="420624" cy="420624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3986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พัฒนาระบบติดตาม AR ข้ามเวลา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4297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โดยชดเชยการหมุนที่ไม่เท่ากันของดวงอาทิตย์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4041648"/>
            <a:ext cx="420624" cy="420624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9048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57416" y="3986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พัฒนาโมเดล LSTM พยากรณ์การปะทุ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57416" y="4297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จากอนุกรมเวลาพารามิเตอร์สนามแม่เหล็ก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4974336"/>
            <a:ext cx="420624" cy="420624"/>
          </a:xfrm>
          <a:prstGeom prst="ellipse">
            <a:avLst/>
          </a:prstGeom>
          <a:solidFill>
            <a:srgbClr val="D6493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" y="49194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ประเมินผลอย่างเข้มงวด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" y="52303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TSS / HSS / BSS + แบ่งข้อมูลตามเวลากันข้อมูลรั่ว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0488" y="4974336"/>
            <a:ext cx="420624" cy="420624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90488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57416" y="49194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พัฒนาเว็บแอปพลิเคชัน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57416" y="52303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แสดงผลทั้งสามส่วนในหน้าเดียว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ขอบเขตงาน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153619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อยู่ในขอบเขต — ทำจริงในช่วงสหกิจ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56816"/>
          <a:ext cx="11055096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8723376"/>
              </a:tblGrid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หัวข้อ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รายละเอียด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แหล่งข้อมูลภาพ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SDO/HMI (hmi.M_720s, sharp_720s, sharp_cea_720s) + SDO/AIA 1600 / 304 / 171 Å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ข้อมูลประกอบ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GOES XRS (ฟลักซ์รังสีเอกซ์) · HEK/NOAA (แคตตาล็อกเปลว) · GOES SGPS (โปรตอน)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ช่วงเวลา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เทรน/ทดสอบ 2011–2017 · case study พ.ค. 2024 (พายุ Gannon)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เป้าหมายพยากรณ์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เปลว ≥ M1.0 ภายใน 24 ชั่วโมง (ไบนารี)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โมเดล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U-Net · Hungarian + Snodgrass · LSTM + attention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ผลผลิต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โค้ด ~17,200 บรรทัด · unit test 282 ข้อ (13 ไฟล์) · เว็บแอป FastAPI + Plotly.js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315968"/>
            <a:ext cx="310896" cy="310896"/>
          </a:xfrm>
          <a:prstGeom prst="ellipse">
            <a:avLst/>
          </a:prstGeom>
          <a:solidFill>
            <a:srgbClr val="D649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!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87552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นอกขอบเขตช่วงสหกิจ — เป็นงานต่อยอดของโครงการวิจัยเต็ม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4700016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FDECE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" y="479145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ช่อง AIA ที่เหลือ (94/131/193/211/1700 Å) — ช่วงสหกิจเลือกมาชั้นบรรยากาศละ 1 ช่องให้ครบสามชั้นก่อน และ AIA ยังใช้เพียง “วัดค่า” จาก mask ที่ U-Net ทำนายจาก HMI เท่านั้น ยังไม่ได้ป้อนเข้าโมเดล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5340096"/>
            <a:ext cx="10561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รวมถึง: การทดลอง ablation ชั้นบรรยากาศ 6 กรณี · การจำแนกว่าเปลวมี CME ตามมาหรือไม่ (DONKI / CDAW) · โมเดล foundation (NASA Surya, SAM2)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เครื่องมือที่ใช้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572768"/>
            <a:ext cx="3502152" cy="2395728"/>
          </a:xfrm>
          <a:prstGeom prst="roundRect">
            <a:avLst>
              <a:gd name="adj" fmla="val 2290"/>
            </a:avLst>
          </a:prstGeom>
          <a:solidFill>
            <a:srgbClr val="F1F3F7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" y="1755648"/>
            <a:ext cx="384048" cy="384048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ข้อมูลและบริการ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267712"/>
            <a:ext cx="30175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JSOC (Stanford) — คลัง SDO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HEK — แคตตาล็อกเหตุการณ์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NOAA / NCEI — GOES XRS, SGPS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AIA synoptic archive — ภาพ lev1.5 ผ่าน HTTP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572768"/>
            <a:ext cx="3502152" cy="2395728"/>
          </a:xfrm>
          <a:prstGeom prst="roundRect">
            <a:avLst>
              <a:gd name="adj" fmla="val 2290"/>
            </a:avLst>
          </a:prstGeom>
          <a:solidFill>
            <a:srgbClr val="F1F3F7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755648"/>
            <a:ext cx="384048" cy="384048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0056" y="173736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ซอฟต์แวร์หลัก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267712"/>
            <a:ext cx="30175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Python 3.12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SunPy · Astropy · drms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PyTorch (CUDA 12.6) · scikit-learn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NumPy · pandas · xarray · PyArrow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572768"/>
            <a:ext cx="3502152" cy="2395728"/>
          </a:xfrm>
          <a:prstGeom prst="roundRect">
            <a:avLst>
              <a:gd name="adj" fmla="val 2290"/>
            </a:avLst>
          </a:prstGeom>
          <a:solidFill>
            <a:srgbClr val="F1F3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266176" y="1755648"/>
            <a:ext cx="384048" cy="384048"/>
          </a:xfrm>
          <a:prstGeom prst="ellipse">
            <a:avLst/>
          </a:prstGeom>
          <a:solidFill>
            <a:srgbClr val="A8D5B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66176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2" y="173736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เว็บและคุณภาพโค้ด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267712"/>
            <a:ext cx="30175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FastAPI · Uvicorn · Plotly.js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pytest · ruff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pydantic (validate config)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Docker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87952"/>
            <a:ext cx="11055096" cy="1536192"/>
          </a:xfrm>
          <a:prstGeom prst="roundRect">
            <a:avLst>
              <a:gd name="adj" fmla="val 3571"/>
            </a:avLst>
          </a:prstGeom>
          <a:solidFill>
            <a:srgbClr val="1C24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31596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ฮาร์ดแวร์ — ข้อจำกัดที่กำหนดการออกแบบโดยตรง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6451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NVIDIA GTX 1650 (VRAM 4 GB)  ·  RAM 16 GB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992624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C3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ย่อภาพ 4096² เหลือ 512²  ·  batch size 4 + gradient accumulation 4  ·  เปิด mixed precision (AMP)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ทฤษฎีที่ใช้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27632"/>
            <a:ext cx="3502152" cy="2084832"/>
          </a:xfrm>
          <a:prstGeom prst="roundRect">
            <a:avLst>
              <a:gd name="adj" fmla="val 2632"/>
            </a:avLst>
          </a:prstGeom>
          <a:solidFill>
            <a:srgbClr val="F1F3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86384" y="17922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U-Net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86384" y="21214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Ronneberger et al., 2015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50592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encoder–decoder + skip connection ให้ mask ระดับพิกเซล · AR มีเพียง 3.302% ของพิกเซล จึงใช้ BCE + Dice loss และ pos_weight = 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06824" y="1627632"/>
            <a:ext cx="3502152" cy="2084832"/>
          </a:xfrm>
          <a:prstGeom prst="roundRect">
            <a:avLst>
              <a:gd name="adj" fmla="val 2632"/>
            </a:avLst>
          </a:prstGeom>
          <a:solidFill>
            <a:srgbClr val="F1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7922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Differential Rotation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1214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Snodgrass, 1983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450592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ω(θ) = A + B·sin²θ + C·sin⁴θ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 = 14.713 · B = −2.396 · C = −1.787 °/วัน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627632"/>
            <a:ext cx="3502152" cy="2084832"/>
          </a:xfrm>
          <a:prstGeom prst="roundRect">
            <a:avLst>
              <a:gd name="adj" fmla="val 2632"/>
            </a:avLst>
          </a:prstGeom>
          <a:solidFill>
            <a:srgbClr val="F1F3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66176" y="17922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Hungarian Algorithm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1214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การจับคู่ที่เหมาะที่สุด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2450592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cost = w_dist·d̂ + w_area·|ΔA|/A + w_iou·(1 − IoU)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913632"/>
            <a:ext cx="3502152" cy="2084832"/>
          </a:xfrm>
          <a:prstGeom prst="roundRect">
            <a:avLst>
              <a:gd name="adj" fmla="val 2632"/>
            </a:avLst>
          </a:prstGeom>
          <a:solidFill>
            <a:srgbClr val="F1F3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40782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LSTM + Attention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44074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Hochreiter &amp; Schmidhuber, 1997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4736592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เรียนรู้ลำดับเวลา 24 ชั่วโมงย้อนหลัง · focal loss (α = 0.75, γ = 2.0) เพราะ positive มีเพียง 1.76%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06824" y="3913632"/>
            <a:ext cx="3502152" cy="2084832"/>
          </a:xfrm>
          <a:prstGeom prst="roundRect">
            <a:avLst>
              <a:gd name="adj" fmla="val 2632"/>
            </a:avLst>
          </a:prstGeom>
          <a:solidFill>
            <a:srgbClr val="F1F3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26280" y="40782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พารามิเตอร์ SHARP 18 ตัว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4074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Bobra &amp; Couvidat 2015 · Schrijver 2007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736592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TOTUSJH (ความเฮลิซิตีกระแสรวม) · USFLUX (ฟลักซ์แม่เหล็กรวม) · R_VALUE (ฟลักซ์ใกล้เส้นกลับขั้ว)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3913632"/>
            <a:ext cx="3502152" cy="2084832"/>
          </a:xfrm>
          <a:prstGeom prst="roundRect">
            <a:avLst>
              <a:gd name="adj" fmla="val 2632"/>
            </a:avLst>
          </a:prstGeom>
          <a:solidFill>
            <a:srgbClr val="F1F3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66176" y="40782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ตัวชี้วัดข้อมูลไม่สมดุล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66176" y="44074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TSS · HSS2 · BSS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66176" y="4736592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TSS = TPR − FPR ไม่ขึ้นกับความถี่เหตุการณ์ · BSS วัดคุณภาพของค่าความน่าจะเป็น ไม่ใช่แค่การจัดอันดับ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ขั้นตอนการทำงาน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572768"/>
            <a:ext cx="420624" cy="420624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33856" y="151790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ดึงข้อมูล metadata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94176" y="151790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download_metadata.py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007608" y="1517904"/>
            <a:ext cx="5614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SHARP keyword 603,262 แถว · flare catalog 6,214 เหตุการณ์ · ตาราง HARP↔NOAA 3,547 คู่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231136"/>
            <a:ext cx="420624" cy="420624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17627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 sequence + label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94176" y="217627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build_sequences.py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07608" y="2176272"/>
            <a:ext cx="5614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248,223 ตัวอย่าง (24 timestep × 18 feature) · positive 1.76%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889504"/>
            <a:ext cx="420624" cy="420624"/>
          </a:xfrm>
          <a:prstGeom prst="ellipse">
            <a:avLst/>
          </a:prstGeom>
          <a:solidFill>
            <a:srgbClr val="D649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28346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เทรน LSTM + baseline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694176" y="283464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train_lstm.py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07608" y="2834640"/>
            <a:ext cx="5614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ยืนยันว่า labeling ถูกต้อง ก่อนลงทุนกับภาพ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547872"/>
            <a:ext cx="420624" cy="420624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34930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ดึงภาพ HMI/AIA + สร้าง mask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694176" y="34930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download_images.py · download_aia.py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007608" y="3493008"/>
            <a:ext cx="5614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415 เฟรม + mask · AIA 1,244 ไฟล์ 3 ชั้นบรรยากาศ  ✋ ตรวจด้วยตาก่อนเสมอ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4206240"/>
            <a:ext cx="420624" cy="420624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" y="415137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เทรน U-Net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694176" y="415137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train_unet.py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007608" y="4151376"/>
            <a:ext cx="5614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แบ่งส่วน AR จาก magnetogram เต็มดวง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864608"/>
            <a:ext cx="420624" cy="420624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66928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" y="480974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เปิดเว็บแอป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694176" y="480974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uvicorn app.main:app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007608" y="4809744"/>
            <a:ext cx="5614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รวมผลทั้งหมดในหน้าเดียว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5541264"/>
            <a:ext cx="11055096" cy="822960"/>
          </a:xfrm>
          <a:prstGeom prst="roundRect">
            <a:avLst>
              <a:gd name="adj" fmla="val 6667"/>
            </a:avLst>
          </a:prstGeom>
          <a:solidFill>
            <a:srgbClr val="FBE7C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4672" y="56144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 LSTM ก่อน U-Net?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355848" y="5614416"/>
            <a:ext cx="8010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LSTM ใช้ข้อมูลตารางไม่กี่ร้อย MB เทรนเสร็จในไม่กี่นาที จึงยืนยันได้เร็วว่า pipeline การติดป้ายกำกับถูกต้อง ก่อนลงทุนเทรนภาพนานหลายสิบชั่วโมง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รายละเอียดของงาน ① ระบบข้อมูล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สิ่งที่สร้าง · การควบคุมคุณภาพ · การแบ่งข้อมูลแบบกันรั่ว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603,262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494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แถว SHARP keyword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55848" y="157276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6,214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355848" y="22494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เหตุการณ์เปลวจาก HEK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157276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3,547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144768" y="22494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คู่ HARP ↔ NOAA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33688" y="157276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415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933688" y="22494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เฟรมภาพพร้อม mask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6700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การควบคุมคุณภาพข้อมูล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035808"/>
          <a:ext cx="56692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234440"/>
                <a:gridCol w="2560320"/>
              </a:tblGrid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กฎ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ค่า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เหตุผล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require_quality_zero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QUALITY = 0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ตัดเฟรมที่ instrument มีปัญหา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abs_lon_max_deg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≤ 68°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SHARP ไม่น่าเชื่อถือใกล้ขอบจาน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min_npix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≥ 100 px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ตัด HARP จิ๋วที่เป็นสัญญาณรบกวน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max_missing_frac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≤ 0.2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ทิ้ง sequence ที่ข้อมูลขาดเกิน 20%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583680" y="26700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การแบ่งข้อมูลแบบกันรั่ว (Leak-safe split)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583680" y="3035808"/>
            <a:ext cx="5038344" cy="1673352"/>
          </a:xfrm>
          <a:prstGeom prst="roundRect">
            <a:avLst>
              <a:gd name="adj" fmla="val 3279"/>
            </a:avLst>
          </a:prstGeom>
          <a:solidFill>
            <a:srgbClr val="E8F1EA"/>
          </a:solidFill>
          <a:ln/>
        </p:spPr>
      </p:sp>
      <p:sp>
        <p:nvSpPr>
          <p:cNvPr id="16" name="Shape 13"/>
          <p:cNvSpPr/>
          <p:nvPr/>
        </p:nvSpPr>
        <p:spPr>
          <a:xfrm>
            <a:off x="6784848" y="3255264"/>
            <a:ext cx="182880" cy="1828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059168" y="31638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แบ่งตามเวลา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778240" y="316382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train ≤ 2015-06-30 · val ≤ 2016-06-30 · test หลังจากนั้น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784848" y="3785616"/>
            <a:ext cx="182880" cy="1828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059168" y="369417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เว้นช่วง (gap) 14 วัน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778240" y="369417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≈ อายุขัยของ HARP หนึ่งดวง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84848" y="4315968"/>
            <a:ext cx="182880" cy="1828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059168" y="42245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HARP-disjoint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778240" y="422452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HARP ดวงหนึ่งอยู่ได้ชุดเดียว — ดวงที่คร่อมเส้นแบ่งถูกทิ้งทั้งดวง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4956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สิ่งที่สร้าง:  ตัวเชื่อม JSOC พร้อม retry อัตโนมัติ 4 ครั้ง (exponential backoff) · ตัวเชื่อม HEK แบ่ง query เป็นช่วง 60 วัน · ระบบสร้าง mask โดยแปลงพิกัด SHARP patch → ภาพเต็มดวงผ่าน WCS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รายละเอียดของงาน ② U-Net Segmentation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แบ่งส่วนบริเวณกัมมันต์ระดับพิกเซลจาก magnetogram เต็มดวง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69037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5120640"/>
              </a:tblGrid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รายการ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ค่า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สถาปัตยกรรม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U-Net base = 32, depth = 4  (32/64/128/256 + bottleneck 512)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จำนวนพารามิเตอร์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7,849,025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ขนาดภาพ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512 × 512  (ย่อจาก 4096 × 4096)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Normalization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tanh(B / 300 G) — บีบช่วง ±3000 G โดยคงเครื่องหมายขั้วแม่เหล็ก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Loss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BCE (0.5) + Dice (0.5),  pos_weight = 20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Augmentation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พลิกแนวนอน/ตั้ง, หมุน ±15° — ห้ามพลิกขั้วแม่เหล็ก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62672" y="1700784"/>
            <a:ext cx="3959352" cy="1335024"/>
          </a:xfrm>
          <a:prstGeom prst="roundRect">
            <a:avLst>
              <a:gd name="adj" fmla="val 4110"/>
            </a:avLst>
          </a:prstGeom>
          <a:solidFill>
            <a:srgbClr val="E8F1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792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 (test set · 132 เฟรม)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08483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0.9155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761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Dice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92640" y="208483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0.8554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9692640" y="2761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IoU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662672" y="3255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ชุดข้อมูล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662672" y="3602736"/>
            <a:ext cx="3959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415 เฟรม (2011-01-01 → 2024-05-31)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train 230  ·  val 50  ·  test 132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(ทิ้ง 3 เฟรมในช่วง gap)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สัดส่วนพิกเซลที่เป็น AR = 3.302%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443984"/>
            <a:ext cx="6903720" cy="1499616"/>
          </a:xfrm>
          <a:prstGeom prst="roundRect">
            <a:avLst>
              <a:gd name="adj" fmla="val 3659"/>
            </a:avLst>
          </a:prstGeom>
          <a:solidFill>
            <a:srgbClr val="E8F1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384" y="4553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  เทรนจบและวัดผลบน test แล้ว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" y="4864608"/>
            <a:ext cx="6446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หยุดด้วย early stopping ที่ epoch 59 จาก 80 (val ดีที่สุดที่ epoch 44 · patience 15)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— ไม่ได้หยุดเพราะหมดเวลา · บน validation ได้ Dice 0.9355 / IoU 0.8799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ช่องว่าง val → test เพียง 0.02 Dice = โมเดล generalize ได้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รายละเอียดของงาน ③ การติดตาม AR ข้ามเวลา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ดวงอาทิตย์หมุน — AR ดวงเดิมเลื่อนไป ~13° ต่อวัน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502152" cy="1700784"/>
          </a:xfrm>
          <a:prstGeom prst="roundRect">
            <a:avLst>
              <a:gd name="adj" fmla="val 3226"/>
            </a:avLst>
          </a:prstGeom>
          <a:solidFill>
            <a:srgbClr val="F1F3F7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865376"/>
            <a:ext cx="402336" cy="402336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47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ตรวจจับ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21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detect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414016"/>
            <a:ext cx="3063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ปิดรูเล็ก (morph close 3 px) → ตัด speckle (morph open 2 px) → หา connected component ที่มีพื้นที่ ≥ 12 px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06824" y="1700784"/>
            <a:ext cx="3502152" cy="1700784"/>
          </a:xfrm>
          <a:prstGeom prst="roundRect">
            <a:avLst>
              <a:gd name="adj" fmla="val 3226"/>
            </a:avLst>
          </a:prstGeom>
          <a:solidFill>
            <a:srgbClr val="F1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865376"/>
            <a:ext cx="402336" cy="402336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0056" y="1847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ชดเชยการหมุน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020056" y="2121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rotation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414016"/>
            <a:ext cx="3063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คำนวณตำแหน่งคาดการณ์ด้วยกฎ Snodgrass ตามละติจูดของแต่ละ 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700784"/>
            <a:ext cx="3502152" cy="1700784"/>
          </a:xfrm>
          <a:prstGeom prst="roundRect">
            <a:avLst>
              <a:gd name="adj" fmla="val 3226"/>
            </a:avLst>
          </a:prstGeom>
          <a:solidFill>
            <a:srgbClr val="F1F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266176" y="1865376"/>
            <a:ext cx="402336" cy="402336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66176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59952" y="1847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จับคู่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759952" y="2121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match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2414016"/>
            <a:ext cx="3063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Hungarian algorithm บน cost matrix ที่รวมระยะทาง การเปลี่ยนพื้นที่ และ IoU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02736"/>
          <a:ext cx="69037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417320"/>
                <a:gridCol w="3337560"/>
              </a:tblGrid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พารามิเตอร์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ค่า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ความหมาย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w_dist / w_area / w_iou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1.0 / 0.3 / 0.5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น้ำหนักของระยะทาง การเปลี่ยนพื้นที่ และ IoU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max_cost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1.2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เกินกว่านี้ถือว่าเป็นคนละ AR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max_match_dist_deg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12.0°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ระยะสูงสุดหลังชดเชยการหมุนแล้ว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n_confirm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 เฟรม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เห็นติดกัน 2 เฟรมจึงยืนยันเป็น track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max_age_frames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3 เฟรม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หายเกิน 3 เฟรมถือว่าจบ track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662672" y="3602736"/>
            <a:ext cx="3959352" cy="1892808"/>
          </a:xfrm>
          <a:prstGeom prst="roundRect">
            <a:avLst>
              <a:gd name="adj" fmla="val 2899"/>
            </a:avLst>
          </a:prstGeom>
          <a:solidFill>
            <a:srgbClr val="FDECE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882128" y="3712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สถานะ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7882128" y="40050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7D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  โค้ดครบและผ่าน unit test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7D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  (test_tracker.py, test_rotation.py)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7882128" y="46268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⚠  ยังไม่ได้วัดผลเชิงปริมาณ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  (ID consistency) บนข้อมูลจริง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รายละเอียดของงาน ④ LSTM พยากรณ์การปะทุ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ทำนายเปลว ≥ M1.0 ภายใน 24 ชั่วโมง จากอนุกรมเวลา SHARP 18 ตัว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4592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248,223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3225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 (24 timestep × 18 feature)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55848" y="164592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1.76%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355848" y="23225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สัดส่วน positive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164592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DC3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~7,000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144768" y="23225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พารามิเตอร์ของโมเดล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33688" y="164592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~114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933688" y="23225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HARP ที่เคยเกิดเปลว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798064"/>
            <a:ext cx="11055096" cy="1005840"/>
          </a:xfrm>
          <a:prstGeom prst="roundRect">
            <a:avLst>
              <a:gd name="adj" fmla="val 5455"/>
            </a:avLst>
          </a:prstGeom>
          <a:solidFill>
            <a:srgbClr val="FBE7C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2871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การออกแบบโมเดล — เล็กโดยเจตนา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3145536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จำนวนแถว 208,033 ไม่ใช่จำนวนตัวอย่างที่เป็นอิสระต่อกันจริง — ตัวอย่างที่ห่างกัน 1 ชั่วโมงจาก AR ดวงเดียวกันแทบเหมือนกันทุกประการ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Effective sample size จริงคือจำนวน HARP ที่เคยเกิดเปลว ซึ่งมีเพียง ~114 ดวง  →  โมเดลจึงต้องเล็กมาก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50208"/>
          <a:ext cx="7178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07492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รายการ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ค่า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hidden size / layers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32 / 1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bidirectional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ปิด — ทำนายจากอดีตเท่านั้น ให้ความหมายทางฟิสิกส์ชัดเจน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attention pooling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เปิด — ถ่วงน้ำหนักข้าม timestep แทนการหยิบ hidden state สุดท้าย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dropout / weight decay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0.4 / 1e-3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loss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focal (α = 0.75, γ = 2.0)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การเลือก threshold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เลือกที่ maximize TSS บน validation แล้ว freeze ก่อนวัด test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936992" y="3950208"/>
            <a:ext cx="3685032" cy="1783080"/>
          </a:xfrm>
          <a:prstGeom prst="roundRect">
            <a:avLst>
              <a:gd name="adj" fmla="val 3077"/>
            </a:avLst>
          </a:prstGeom>
          <a:solidFill>
            <a:srgbClr val="E8F1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138160" y="4059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บทเรียนจากการทดลอง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435254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hidden = 128, 2 layers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(224k พารามิเตอร์)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test TSS = 0.425  overfit หนัก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502920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E7D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ลดเหลือ 7k พารามิเตอร์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E7D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test TSS ดีขึ้นเป็น 0.472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รายละเอียดของงาน ⑤ เว็บแอปพลิเคชัน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 backend (Python) กับ frontend (HTML/CSS/JS ล้วน ไม่มี build step)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007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API — FastAPI  10 routes  (prefix /api)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1170432" cy="384048"/>
          </a:xfrm>
          <a:prstGeom prst="roundRect">
            <a:avLst>
              <a:gd name="adj" fmla="val 11905"/>
            </a:avLst>
          </a:prstGeom>
          <a:solidFill>
            <a:srgbClr val="1015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208483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/harps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810512" y="208483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รายการ AR ที่มีข้อมูล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93008" y="2084832"/>
            <a:ext cx="1170432" cy="384048"/>
          </a:xfrm>
          <a:prstGeom prst="roundRect">
            <a:avLst>
              <a:gd name="adj" fmla="val 11905"/>
            </a:avLst>
          </a:prstGeom>
          <a:solidFill>
            <a:srgbClr val="1015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93008" y="208483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/frames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208483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รายการเวลาของเฟรมที่มีอยู่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560320"/>
            <a:ext cx="1170432" cy="384048"/>
          </a:xfrm>
          <a:prstGeom prst="roundRect">
            <a:avLst>
              <a:gd name="adj" fmla="val 11905"/>
            </a:avLst>
          </a:prstGeom>
          <a:solidFill>
            <a:srgbClr val="1015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25603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/segment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810512" y="256032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แบ่งส่วน AR + เลือกเลเยอร์ภาพ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93008" y="2560320"/>
            <a:ext cx="1170432" cy="384048"/>
          </a:xfrm>
          <a:prstGeom prst="roundRect">
            <a:avLst>
              <a:gd name="adj" fmla="val 11905"/>
            </a:avLst>
          </a:prstGeom>
          <a:solidFill>
            <a:srgbClr val="1015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93008" y="25603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/track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256032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 AR ข้ามเวลา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035808"/>
            <a:ext cx="1170432" cy="384048"/>
          </a:xfrm>
          <a:prstGeom prst="roundRect">
            <a:avLst>
              <a:gd name="adj" fmla="val 11905"/>
            </a:avLst>
          </a:prstGeom>
          <a:solidFill>
            <a:srgbClr val="1015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03580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/forecast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810512" y="30358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ความน่าจะเป็นการเกิดเปลว (+ /forecast/at)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93008" y="3035808"/>
            <a:ext cx="1170432" cy="384048"/>
          </a:xfrm>
          <a:prstGeom prst="roundRect">
            <a:avLst>
              <a:gd name="adj" fmla="val 11905"/>
            </a:avLst>
          </a:prstGeom>
          <a:solidFill>
            <a:srgbClr val="1015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93008" y="303580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/xray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36592" y="30358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ฟลักซ์รังสีเอกซ์ต่อเนื่อง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511296"/>
            <a:ext cx="1170432" cy="384048"/>
          </a:xfrm>
          <a:prstGeom prst="roundRect">
            <a:avLst>
              <a:gd name="adj" fmla="val 11905"/>
            </a:avLst>
          </a:prstGeom>
          <a:solidFill>
            <a:srgbClr val="1015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351129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/goes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810512" y="351129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รายการเปลวในช่วงเวลา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93008" y="3511296"/>
            <a:ext cx="1170432" cy="384048"/>
          </a:xfrm>
          <a:prstGeom prst="roundRect">
            <a:avLst>
              <a:gd name="adj" fmla="val 11905"/>
            </a:avLst>
          </a:prstGeom>
          <a:solidFill>
            <a:srgbClr val="1015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93008" y="351129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/proton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736592" y="351129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อนุกรมฟลักซ์โปรตอนรอบเวลาที่เกิดเปลว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17007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หน้าเว็บ 7 แผง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675120" y="2203704"/>
            <a:ext cx="164592" cy="164592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31152" y="208483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 4 เลเยอร์ + mask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62288" y="2203704"/>
            <a:ext cx="164592" cy="164592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0" y="208483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รายการ 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2679192"/>
            <a:ext cx="164592" cy="164592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31152" y="256032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ความเข้มแสงราย AR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62288" y="2679192"/>
            <a:ext cx="164592" cy="164592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418320" y="256032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attention weight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75120" y="3154680"/>
            <a:ext cx="164592" cy="164592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931152" y="3035808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แถบความเสี่ยง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162288" y="3154680"/>
            <a:ext cx="164592" cy="164592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418320" y="3035808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ฟลักซ์รังสีเอกซ์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675120" y="3630168"/>
            <a:ext cx="164592" cy="164592"/>
          </a:xfrm>
          <a:prstGeom prst="ellipse">
            <a:avLst/>
          </a:prstGeom>
          <a:solidFill>
            <a:srgbClr val="9DC3E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931152" y="351129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ฟลักซ์โปรตอน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" y="4517136"/>
            <a:ext cx="11055096" cy="1170432"/>
          </a:xfrm>
          <a:prstGeom prst="roundRect">
            <a:avLst>
              <a:gd name="adj" fmla="val 4688"/>
            </a:avLst>
          </a:prstGeom>
          <a:solidFill>
            <a:srgbClr val="E8F1E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04672" y="46085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หลักการออกแบบ: แอปต้องเปิดได้เสมอ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804672" y="491947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แม้ยังไม่มีโมเดลหรือข้อมูลบางส่วน — ส่วนที่ยังไม่พร้อมจะขึ้นสถานะ “ยังไม่พร้อม” พร้อมบอกว่าต้องรันสคริปต์ไหนต่อ แทนที่จะพังทั้งหน้า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66928" y="3986784"/>
            <a:ext cx="1874520" cy="384048"/>
          </a:xfrm>
          <a:prstGeom prst="roundRect">
            <a:avLst>
              <a:gd name="adj" fmla="val 11905"/>
            </a:avLst>
          </a:prstGeom>
          <a:solidFill>
            <a:srgbClr val="10152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66928" y="39867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/intensity-series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2514600" y="39867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ความเข้มแสงราย AR ตามเวลา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ผลการดำเนินงานและการวิเคราะห์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66928" y="1554480"/>
          <a:ext cx="4892040" cy="22311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79008" y="1554480"/>
          <a:ext cx="5843016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444752"/>
                <a:gridCol w="1444752"/>
                <a:gridCol w="1444752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ตัวชี้วัด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LSTM (val)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LSTM (test)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Baseline (test)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2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TSS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0.845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64933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0.472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D5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0.908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AUC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0.963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0.937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0.988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HSS2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0.359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0.076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0.095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BSS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−0.318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4933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−3.09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4933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−11.17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Recall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0.890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0.514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0.973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Precision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0.237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0.045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0.053</a:t>
                      </a:r>
                      <a:endParaRPr lang="en-US" sz="10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66928" y="3913632"/>
            <a:ext cx="11055096" cy="1810512"/>
          </a:xfrm>
          <a:prstGeom prst="roundRect">
            <a:avLst>
              <a:gd name="adj" fmla="val 3030"/>
            </a:avLst>
          </a:prstGeom>
          <a:solidFill>
            <a:srgbClr val="FDECE7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04672" y="4005072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🔍  ผลที่ไม่เป็นไปตามสมมติฐาน: LSTM ทำได้แย่กว่า baseline ที่ไม่มีมิติเวลา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804672" y="4370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  Effective sample size เล็กมาก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987552" y="46634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208,033 แถว แต่มี HARP ที่เคยเกิดเปลวเพียง ~114 ดวง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334256" y="4370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  test set มี positive เพียง 37 ตัว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17136" y="46634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ต่างกันไม่กี่เหตุการณ์ก็ทำให้ TSS ขยับมาก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4370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3.  คนละช่วงวัฏจักรสุริยะ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46634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train อยู่ช่วง solar maximum · test อยู่ช่วงขาลง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04672" y="523036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BSS ติดลบทั้งสองโมเดล = ค่าความน่าจะเป็นยังไม่ calibrate (ผลจาก focal loss และการถ่วงน้ำหนักคลาส) → ต้องตีความผลเป็น “การจัดอันดับความเสี่ยง” ไม่ใช่ความน่าจะเป็นที่แท้จริง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" y="5870448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หยุดปรับ hyperparameter แล้วรายงานตามจริง — การปรับต่อโดยดูผลบน test set จะเป็นการ overfit test set เสียเอง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สรุปผลการปฏิบัติงาน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C3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คิดเทียบกับโมดูลของระบบ 7 ส่วน (ถ่วงน้ำหนักตามขนาดงาน)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781812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685800"/>
                <a:gridCol w="640080"/>
                <a:gridCol w="3977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52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โมดูล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20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52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น้ำหนัก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20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52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เสร็จ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52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หลักฐาน / สิ่งที่เหลือ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20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ระบบข้อมูล (JSOC/HEK/AIA/mask/sequence)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20%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BD38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100%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SHARP 603,262 · flare 6,214 · 415 เฟรม+mask · 248,223 sequence · AIA 1,244 ไฟล์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U-Net segmentation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20%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A202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100%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test Dice 0.9155 / IoU 0.8554 · early stopping ที่ epoch 59 (val ดีสุด epoch 44)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การติดตาม AR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15%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A202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75%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แก้บั๊กพิกัดกลับด้าน 180° + ใช้จริงใน /intensity-series — เหลือ: วัด ID consistency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LSTM forecasting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20%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BD38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100%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เทรน + วัดผล + วิเคราะห์สาเหตุครบ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เว็บแอปพลิเคชัน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15%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BD38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95%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10 routes + 7 แผง + 4 เลเยอร์ภาพ + จานสุริยะ interactive — เหลือ: เก็บรายละเอียด UI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Case study พายุ Gannon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933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60%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ข้อมูล HMI + AIA ครบ ดูผลในเว็บได้ (60 เฟรม · 6 AR) — เหลือ: เขียนบทวิเคราะห์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เอกสารและการทดสอบ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A202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85%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test 282 ข้อ (13 ไฟล์) ผ่าน · README ปรับแล้ว — เหลือ: บันทึกผล case study</a:t>
                      </a:r>
                      <a:endParaRPr lang="en-US" sz="1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13648" y="1572768"/>
            <a:ext cx="3008376" cy="1481328"/>
          </a:xfrm>
          <a:prstGeom prst="roundRect">
            <a:avLst>
              <a:gd name="adj" fmla="val 3704"/>
            </a:avLst>
          </a:prstGeom>
          <a:solidFill>
            <a:srgbClr val="1C244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13648" y="1700784"/>
            <a:ext cx="3008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7BD38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92.8%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8613648" y="2505456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งานที่แล้วเสร็จ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13648" y="3200400"/>
            <a:ext cx="3008376" cy="1481328"/>
          </a:xfrm>
          <a:prstGeom prst="roundRect">
            <a:avLst>
              <a:gd name="adj" fmla="val 3704"/>
            </a:avLst>
          </a:prstGeom>
          <a:solidFill>
            <a:srgbClr val="1C244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13648" y="3328416"/>
            <a:ext cx="3008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7.2%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8613648" y="413308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อยู่ระหว่างดำเนินการ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846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งานที่เหลือ เรียงตามลำดับความสำคัญ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5212080"/>
            <a:ext cx="310896" cy="310896"/>
          </a:xfrm>
          <a:prstGeom prst="ellipse">
            <a:avLst/>
          </a:prstGeom>
          <a:solidFill>
            <a:srgbClr val="D6493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66928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50976" y="51389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วัด ID consistency ของระบบติดตามเชิงปริมาณ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15968" y="5212080"/>
            <a:ext cx="310896" cy="310896"/>
          </a:xfrm>
          <a:prstGeom prst="ellipse">
            <a:avLst/>
          </a:prstGeom>
          <a:solidFill>
            <a:srgbClr val="1C244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315968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700016" y="51389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C3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เขียนบทวิเคราะห์ case study พายุ Gannon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65008" y="5212080"/>
            <a:ext cx="310896" cy="310896"/>
          </a:xfrm>
          <a:prstGeom prst="ellipse">
            <a:avLst/>
          </a:prstGeom>
          <a:solidFill>
            <a:srgbClr val="1C244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65008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449056" y="51389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C3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เก็บรายละเอียด UI ของเว็บแอป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งานอื่น ๆ ที่ได้รับมอบหมาย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572768"/>
            <a:ext cx="6903720" cy="2487168"/>
          </a:xfrm>
          <a:prstGeom prst="roundRect">
            <a:avLst>
              <a:gd name="adj" fmla="val 2206"/>
            </a:avLst>
          </a:prstGeom>
          <a:solidFill>
            <a:srgbClr val="F1F3F7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" y="1737360"/>
            <a:ext cx="402336" cy="402336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1907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ทำความสะอาดและรวมคลังข้อมูลฟลักซ์อนุภาค GOES</a:t>
            </a:r>
            <a:endParaRPr lang="en-US" sz="13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" y="2139696"/>
          <a:ext cx="646480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166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ขอบเขต</a:t>
                      </a:r>
                      <a:endParaRPr lang="en-US" sz="9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20,020 ไฟล์รายวัน · 9 ดาวเทียม (G08–G12, GOES16/18, Primary, Secondary) · 1998–2026</a:t>
                      </a:r>
                      <a:endParaRPr lang="en-US" sz="9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วิธีเติมข้อมูลขาด</a:t>
                      </a:r>
                      <a:endParaRPr lang="en-US" sz="9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interpolate เชิงเส้นเฉพาะช่องว่าง ≤ 3 ชม. ที่มีค่าถูกต้องขนาบสองด้าน — ยาวกว่านั้นปล่อยว่างและติดธง ไม่สร้างข้อมูลปลอม</a:t>
                      </a:r>
                      <a:endParaRPr lang="en-US" sz="9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ผลผลิต</a:t>
                      </a:r>
                      <a:endParaRPr lang="en-US" sz="9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64 ไฟล์ satellite-year จัดโฟลเดอร์ตามปี · ไฟล์ต้นฉบับไม่ถูกแก้ไข</a:t>
                      </a:r>
                      <a:endParaRPr lang="en-US" sz="9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การตรวจสอบ</a:t>
                      </a:r>
                      <a:endParaRPr lang="en-US" sz="9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15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ตรวจโครงสร้าง + คำนวณค่า OBS/INTERP ใหม่อย่างอิสระเทียบต้นฉบับ — ตรงกันทุกค่า</a:t>
                      </a:r>
                      <a:endParaRPr lang="en-US" sz="9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62672" y="1572768"/>
            <a:ext cx="3959352" cy="2487168"/>
          </a:xfrm>
          <a:prstGeom prst="roundRect">
            <a:avLst>
              <a:gd name="adj" fmla="val 2206"/>
            </a:avLst>
          </a:prstGeom>
          <a:solidFill>
            <a:srgbClr val="FDECE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700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9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ข้อบกพร่องของเครื่องวัดที่ตรวจพบ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9751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7E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พบจากข้อมูลจริง ไม่ได้กำหนดไว้ล่วงหน้า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882128" y="2249424"/>
            <a:ext cx="3566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G12 ช่องวัดโปรตอน (P6/P7) เสียถาวร → ทั้ง 6 คอลัมน์เป็น NA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GOES16 / GOES18 เครื่อง SGPS วัดเฉพาะโปรตอน → 3 คอลัมน์อิเล็กตรอนเป็น NA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ช่อง E &gt; 4.0 MeV ว่างเปล่า 100% ตลอดคลัง 28 ปีของทั้ง 9 ดาวเทียม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82128" y="36027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คลังนี้ถูกนำไปใช้จริงในเว็บแอปของโครงงานหลัก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1F3F7"/>
          </a:solidFill>
          <a:ln/>
        </p:spPr>
      </p:sp>
      <p:sp>
        <p:nvSpPr>
          <p:cNvPr id="14" name="Shape 11"/>
          <p:cNvSpPr/>
          <p:nvPr/>
        </p:nvSpPr>
        <p:spPr>
          <a:xfrm>
            <a:off x="786384" y="4370832"/>
            <a:ext cx="402336" cy="402336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6384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31596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แผนที่ตำแหน่งเปลวระดับ X ข้าม Solar Cycle 23/24/25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86384" y="4864608"/>
            <a:ext cx="5001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Pipeline แบบ dual-backend รองรับทั้งรายงาน GOES XRS แบบเดิม และ SWPC Solar/Geophysical Event Reports → แผนภาพตำแหน่งบนจานในระบบพิกัด Stonyhurst พร้อมหน้า interactive HTML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81344" y="4224528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1F3F7"/>
          </a:solidFill>
          <a:ln/>
        </p:spPr>
      </p:sp>
      <p:sp>
        <p:nvSpPr>
          <p:cNvPr id="19" name="Shape 16"/>
          <p:cNvSpPr/>
          <p:nvPr/>
        </p:nvSpPr>
        <p:spPr>
          <a:xfrm>
            <a:off x="6400800" y="4370832"/>
            <a:ext cx="402336" cy="402336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0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894576" y="43708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พัฒนาระบบต้นแบบก่อนหน้า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4754880"/>
            <a:ext cx="5001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ai-sun — พยากรณ์เปลวระดับทั้งดวงจาก GOES X-ray + SHARP วางรากฐานการเลือก feature และการแบ่งข้อมูล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ARtracking2 — แพ็กเกจ solarflare ครอบคลุมขั้น data → segment/track → features พร้อม CI ทดสอบทั้ง Linux และ Windows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846320"/>
            <a:ext cx="3108960" cy="3108960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สรุปและสิ่งที่ได้เรียนรู้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สิ่งที่ทำสำเร็จ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5257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 pipeline end-to-end ครบสามส่วน (segmentation → tracking → forecasting) พร้อมเว็บแอป — ~17,200 บรรทัด, unit test 282 ข้อ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U-Net แบ่งส่วน AR ได้ Dice 0.9155 บน test set 132 เฟรมที่ไม่เคยเห็น (val 0.9355)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ออกแบบการแบ่งข้อมูลแบบกันรั่วอย่างเข้มงวด (HARP-disjoint + gap 14 วัน)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ทำความสะอาดคลังข้อมูล 28 ปีให้ใช้งานได้จริง และพบข้อบกพร่องของเครื่องวัด 3 ประการ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ต่อยอดถึงชั้นบรรยากาศบน — วัดความเข้มแสง AIA 3 ชั้นจาก mask เดียวกับที่ U-Net ทำนาย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630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883664"/>
            <a:ext cx="329184" cy="329184"/>
          </a:xfrm>
          <a:prstGeom prst="ellipse">
            <a:avLst/>
          </a:prstGeom>
          <a:solidFill>
            <a:srgbClr val="1C24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748272" y="18288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“ข้อมูลเยอะ” ≠ “สารสนเทศเยอะ”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20848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C3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208,000 แถวจาก AR เพียง 114 ดวง ให้สารสนเทศเท่ากับ 114 ตัวอย่าง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42032"/>
            <a:ext cx="329184" cy="329184"/>
          </a:xfrm>
          <a:prstGeom prst="ellipse">
            <a:avLst/>
          </a:prstGeom>
          <a:solidFill>
            <a:srgbClr val="D649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748272" y="24871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ผลเชิงลบที่วิเคราะห์สาเหตุได้ มีค่า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48272" y="27432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C3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และการหยุดปรับ hyperparameter เมื่อรู้ว่ากำลังจะ overfit test set คือวินัยการวิจัย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3200400"/>
            <a:ext cx="329184" cy="329184"/>
          </a:xfrm>
          <a:prstGeom prst="ellipse">
            <a:avLst/>
          </a:prstGeom>
          <a:solidFill>
            <a:srgbClr val="1C24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48272" y="31455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ข้อจำกัดฮาร์ดแวร์เป็นข้อกำหนดการออกแบบ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340156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C3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VRAM 4 GB กำหนดทุกอย่างตั้งแต่ขนาดภาพจนถึง batch size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3858768"/>
            <a:ext cx="329184" cy="329184"/>
          </a:xfrm>
          <a:prstGeom prst="ellipse">
            <a:avLst/>
          </a:prstGeom>
          <a:solidFill>
            <a:srgbClr val="1C24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748272" y="3803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ตรวจสอบด้วยตาก่อนเสมอ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48272" y="405993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C3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ตอนต่อ AIA เจอของจริง: hmi.M_720s มี CROTA2 ≈ 180° ที่ไม่มีใครสังเกตมาก่อน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4553712"/>
            <a:ext cx="11055096" cy="749808"/>
          </a:xfrm>
          <a:prstGeom prst="roundRect">
            <a:avLst>
              <a:gd name="adj" fmla="val 7317"/>
            </a:avLst>
          </a:prstGeom>
          <a:solidFill>
            <a:srgbClr val="1C24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46268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งานต่อยอด: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231136" y="462686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ป้อน AIA เข้าโมเดล (ตอนนี้ใช้แค่วัดค่าจาก mask) → ทดลอง ablation ชั้นบรรยากาศ 6 กรณี → จำแนกว่าเปลวมี CME ตามมาหรือไม่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54126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20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 — ยินดีรับคำถาม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NARIT (ILRS)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โครงงานสหกิจศึกษา — Solar AR Tracking &amp; Flare Forecasting</dc:title>
  <dc:subject>PptxGenJS Presentation</dc:subject>
  <dc:creator>Tanaphat Srinariang</dc:creator>
  <cp:lastModifiedBy>Tanaphat Srinariang</cp:lastModifiedBy>
  <cp:revision>1</cp:revision>
  <dcterms:created xsi:type="dcterms:W3CDTF">2026-08-27T03:12:03Z</dcterms:created>
  <dcterms:modified xsi:type="dcterms:W3CDTF">2026-08-27T03:12:03Z</dcterms:modified>
</cp:coreProperties>
</file>